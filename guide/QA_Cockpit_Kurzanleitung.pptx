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Diese Anleitung führt durch den kompletten Ablauf: anmelden, Release anlegen, qTest- und Jira-Daten importieren, auswerten und exportieren.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Die vier Schritte sind die Gliederung der ganzen Anleitung.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Ohne Anmeldung sind alle Import- und Verwaltungsschaltflächen ausgeblendet.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552 geplante Testläufe, 279 bestanden, 28 fehlgeschlagen. IR1 ist abgeschlossen, QC1 läuft.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0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325880"/>
            <a:ext cx="82296" cy="2834640"/>
          </a:xfrm>
          <a:prstGeom prst="roundRect">
            <a:avLst>
              <a:gd name="adj" fmla="val 555556"/>
            </a:avLst>
          </a:prstGeom>
          <a:solidFill>
            <a:srgbClr val="A3D024"/>
          </a:solidFill>
          <a:ln w="12700">
            <a:solidFill>
              <a:srgbClr val="A3D02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051560" y="13716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A3D0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 · TEST MANAGEMENT COCKPIT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024128" y="1783080"/>
            <a:ext cx="9601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EEF2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Kurzanleitung</a:t>
            </a:r>
            <a:endParaRPr lang="en-US" sz="5400" dirty="0"/>
          </a:p>
        </p:txBody>
      </p:sp>
      <p:sp>
        <p:nvSpPr>
          <p:cNvPr id="5" name="Text 3"/>
          <p:cNvSpPr txBox="1"/>
          <p:nvPr/>
        </p:nvSpPr>
        <p:spPr>
          <a:xfrm>
            <a:off x="1051560" y="2788920"/>
            <a:ext cx="8778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800" dirty="0">
                <a:solidFill>
                  <a:srgbClr val="93A3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Vom Anlegen eines Releases bis zum fertigen Statusbericht —</a:t>
            </a:r>
            <a:endParaRPr lang="en-US" sz="18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800" dirty="0">
                <a:solidFill>
                  <a:srgbClr val="93A3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Schritt für Schritt, mit Bildschirmfotos.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1051560" y="4206240"/>
            <a:ext cx="3108960" cy="566928"/>
          </a:xfrm>
          <a:prstGeom prst="roundRect">
            <a:avLst>
              <a:gd name="adj" fmla="val 12903"/>
            </a:avLst>
          </a:prstGeom>
          <a:solidFill>
            <a:srgbClr val="16203A"/>
          </a:solidFill>
          <a:ln w="12700">
            <a:solidFill>
              <a:srgbClr val="2B3A5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88720" y="4206240"/>
            <a:ext cx="2834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EF2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Eine einzige HTML-Datei · offline lauffähig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361688" y="4206240"/>
            <a:ext cx="3108960" cy="566928"/>
          </a:xfrm>
          <a:prstGeom prst="roundRect">
            <a:avLst>
              <a:gd name="adj" fmla="val 12903"/>
            </a:avLst>
          </a:prstGeom>
          <a:solidFill>
            <a:srgbClr val="16203A"/>
          </a:solidFill>
          <a:ln w="12700">
            <a:solidFill>
              <a:srgbClr val="2B3A5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498848" y="4206240"/>
            <a:ext cx="2834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EF2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Beispiel in dieser Anleitung: Release 26.03.00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7671816" y="4206240"/>
            <a:ext cx="3108960" cy="566928"/>
          </a:xfrm>
          <a:prstGeom prst="roundRect">
            <a:avLst>
              <a:gd name="adj" fmla="val 12903"/>
            </a:avLst>
          </a:prstGeom>
          <a:solidFill>
            <a:srgbClr val="16203A"/>
          </a:solidFill>
          <a:ln w="12700">
            <a:solidFill>
              <a:srgbClr val="2B3A5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808976" y="4206240"/>
            <a:ext cx="2834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EF2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Daten bleiben im Browser — nichts wird hochgeladen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1051560" y="60350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3A3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Cordes &amp; Graefe KG · QA Test Management · vertraulich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10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47472"/>
            <a:ext cx="10515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20" kern="0" dirty="0">
                <a:solidFill>
                  <a:srgbClr val="A3D0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ÜBERBLICK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03504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EF2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Ablauf in vier Schritten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600200"/>
            <a:ext cx="2615184" cy="3017520"/>
          </a:xfrm>
          <a:prstGeom prst="roundRect">
            <a:avLst>
              <a:gd name="adj" fmla="val 2448"/>
            </a:avLst>
          </a:prstGeom>
          <a:solidFill>
            <a:srgbClr val="16203A"/>
          </a:solidFill>
          <a:ln w="12700">
            <a:solidFill>
              <a:srgbClr val="2B3A5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41248" y="1874520"/>
            <a:ext cx="566928" cy="566928"/>
          </a:xfrm>
          <a:prstGeom prst="ellipse">
            <a:avLst/>
          </a:prstGeom>
          <a:solidFill>
            <a:srgbClr val="A3D024"/>
          </a:solidFill>
          <a:ln w="12700">
            <a:solidFill>
              <a:srgbClr val="A3D02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41248" y="18745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A10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841248" y="2560320"/>
            <a:ext cx="213969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EEF2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Anmelden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841248" y="3218688"/>
            <a:ext cx="213969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93A3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 Rolle bestimmt die Rechte: Viewer liest, Editor importiert, Admin verwaltet Releases.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3236976" y="288036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6E8F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3383280" y="1600200"/>
            <a:ext cx="2615184" cy="3017520"/>
          </a:xfrm>
          <a:prstGeom prst="roundRect">
            <a:avLst>
              <a:gd name="adj" fmla="val 2448"/>
            </a:avLst>
          </a:prstGeom>
          <a:solidFill>
            <a:srgbClr val="16203A"/>
          </a:solidFill>
          <a:ln w="12700">
            <a:solidFill>
              <a:srgbClr val="2B3A5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657600" y="1874520"/>
            <a:ext cx="566928" cy="566928"/>
          </a:xfrm>
          <a:prstGeom prst="ellipse">
            <a:avLst/>
          </a:prstGeom>
          <a:solidFill>
            <a:srgbClr val="A3D024"/>
          </a:solidFill>
          <a:ln w="12700">
            <a:solidFill>
              <a:srgbClr val="A3D02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657600" y="18745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A10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3657600" y="2560320"/>
            <a:ext cx="213969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EEF2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Release anlegen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3657600" y="3218688"/>
            <a:ext cx="213969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93A3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Version, Zeitraum, Testumgebungen, Zeitplan je Umgebung und Verantwortliche eintragen.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053328" y="288036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6E8F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6199632" y="1600200"/>
            <a:ext cx="2615184" cy="3017520"/>
          </a:xfrm>
          <a:prstGeom prst="roundRect">
            <a:avLst>
              <a:gd name="adj" fmla="val 2448"/>
            </a:avLst>
          </a:prstGeom>
          <a:solidFill>
            <a:srgbClr val="16203A"/>
          </a:solidFill>
          <a:ln w="12700">
            <a:solidFill>
              <a:srgbClr val="2B3A5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473952" y="1874520"/>
            <a:ext cx="566928" cy="566928"/>
          </a:xfrm>
          <a:prstGeom prst="ellipse">
            <a:avLst/>
          </a:prstGeom>
          <a:solidFill>
            <a:srgbClr val="A3D024"/>
          </a:solidFill>
          <a:ln w="12700">
            <a:solidFill>
              <a:srgbClr val="A3D024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473952" y="18745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A10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6473952" y="2560320"/>
            <a:ext cx="213969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EEF2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Zwei Dateien importieren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6473952" y="3218688"/>
            <a:ext cx="213969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93A3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qTest-Export für die Testläufe, Jira-CSV für die Fehler. Beide werden automatisch verknüpft.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8869680" y="288036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6E8F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000" dirty="0"/>
          </a:p>
        </p:txBody>
      </p:sp>
      <p:sp>
        <p:nvSpPr>
          <p:cNvPr id="22" name="Shape 20"/>
          <p:cNvSpPr/>
          <p:nvPr/>
        </p:nvSpPr>
        <p:spPr>
          <a:xfrm>
            <a:off x="9015984" y="1600200"/>
            <a:ext cx="2615184" cy="3017520"/>
          </a:xfrm>
          <a:prstGeom prst="roundRect">
            <a:avLst>
              <a:gd name="adj" fmla="val 2448"/>
            </a:avLst>
          </a:prstGeom>
          <a:solidFill>
            <a:srgbClr val="16203A"/>
          </a:solidFill>
          <a:ln w="12700">
            <a:solidFill>
              <a:srgbClr val="2B3A5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9290304" y="1874520"/>
            <a:ext cx="566928" cy="566928"/>
          </a:xfrm>
          <a:prstGeom prst="ellipse">
            <a:avLst/>
          </a:prstGeom>
          <a:solidFill>
            <a:srgbClr val="A3D024"/>
          </a:solidFill>
          <a:ln w="12700">
            <a:solidFill>
              <a:srgbClr val="A3D024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290304" y="18745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A10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800" dirty="0"/>
          </a:p>
        </p:txBody>
      </p:sp>
      <p:sp>
        <p:nvSpPr>
          <p:cNvPr id="25" name="Text 23"/>
          <p:cNvSpPr txBox="1"/>
          <p:nvPr/>
        </p:nvSpPr>
        <p:spPr>
          <a:xfrm>
            <a:off x="9290304" y="2560320"/>
            <a:ext cx="213969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EEF2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Auswerten &amp; exportieren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9290304" y="3218688"/>
            <a:ext cx="213969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93A3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Fortschritt, Abdeckung und Fehler lesen — dann als PDF, PowerPoint oder Excel herausgeben.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566928" y="4956048"/>
            <a:ext cx="11064240" cy="713232"/>
          </a:xfrm>
          <a:prstGeom prst="roundRect">
            <a:avLst>
              <a:gd name="adj" fmla="val 8974"/>
            </a:avLst>
          </a:prstGeom>
          <a:solidFill>
            <a:srgbClr val="1B2C1A"/>
          </a:solidFill>
          <a:ln w="12700">
            <a:solidFill>
              <a:srgbClr val="6E8F12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822960" y="4956048"/>
            <a:ext cx="10607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EF2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Alles im Cockpit ist release- und umgebungsbezogen. Vor dem Lesen der Zahlen immer prüfen, welches Release oben im Kopfbereich steht.</a:t>
            </a:r>
            <a:endParaRPr lang="en-US" sz="13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10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47472"/>
            <a:ext cx="10515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20" kern="0" dirty="0">
                <a:solidFill>
                  <a:srgbClr val="A3D0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SCHRITT 1 · ANMELDEN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03504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EF2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Ohne Anmeldung nur Lesezugriff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93776" y="1408176"/>
            <a:ext cx="11210544" cy="1517904"/>
          </a:xfrm>
          <a:prstGeom prst="roundRect">
            <a:avLst>
              <a:gd name="adj" fmla="val 3614"/>
            </a:avLst>
          </a:prstGeom>
          <a:solidFill>
            <a:srgbClr val="16203A"/>
          </a:solidFill>
          <a:ln w="12700">
            <a:solidFill>
              <a:srgbClr val="2B3A5C"/>
            </a:solidFill>
            <a:prstDash val="solid"/>
          </a:ln>
        </p:spPr>
      </p:sp>
      <p:pic>
        <p:nvPicPr>
          <p:cNvPr id="5" name="Image 0" descr="shots/s01-login-butt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38478" y="1481328"/>
            <a:ext cx="9121140" cy="13716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66928" y="2926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3A3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Oben rechts im Kopfbereich — sichtbar, solange niemand angemeldet ist.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493776" y="3236976"/>
            <a:ext cx="4718304" cy="2706624"/>
          </a:xfrm>
          <a:prstGeom prst="roundRect">
            <a:avLst>
              <a:gd name="adj" fmla="val 2027"/>
            </a:avLst>
          </a:prstGeom>
          <a:solidFill>
            <a:srgbClr val="16203A"/>
          </a:solidFill>
          <a:ln w="12700">
            <a:solidFill>
              <a:srgbClr val="2B3A5C"/>
            </a:solidFill>
            <a:prstDash val="solid"/>
          </a:ln>
        </p:spPr>
      </p:sp>
      <p:pic>
        <p:nvPicPr>
          <p:cNvPr id="8" name="Image 1" descr="shots/s02-login-form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55527" y="3310128"/>
            <a:ext cx="3194802" cy="2560320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5486400" y="3401568"/>
            <a:ext cx="310896" cy="310896"/>
          </a:xfrm>
          <a:prstGeom prst="ellipse">
            <a:avLst/>
          </a:prstGeom>
          <a:solidFill>
            <a:srgbClr val="FF2D55"/>
          </a:solidFill>
          <a:ln w="12700">
            <a:solidFill>
              <a:srgbClr val="FF2D55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486400" y="34015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5925312" y="3346704"/>
            <a:ext cx="5687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EEF2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Benutzer aus der Liste wählen.</a:t>
            </a:r>
            <a:endParaRPr lang="en-US" sz="1350" dirty="0"/>
          </a:p>
        </p:txBody>
      </p:sp>
      <p:sp>
        <p:nvSpPr>
          <p:cNvPr id="12" name="Shape 8"/>
          <p:cNvSpPr/>
          <p:nvPr/>
        </p:nvSpPr>
        <p:spPr>
          <a:xfrm>
            <a:off x="5486400" y="3822192"/>
            <a:ext cx="310896" cy="310896"/>
          </a:xfrm>
          <a:prstGeom prst="ellipse">
            <a:avLst/>
          </a:prstGeom>
          <a:solidFill>
            <a:srgbClr val="FF2D55"/>
          </a:solidFill>
          <a:ln w="12700">
            <a:solidFill>
              <a:srgbClr val="FF2D55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5486400" y="382219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4" name="Text 10"/>
          <p:cNvSpPr txBox="1"/>
          <p:nvPr/>
        </p:nvSpPr>
        <p:spPr>
          <a:xfrm>
            <a:off x="5925312" y="3767328"/>
            <a:ext cx="5687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EEF2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6-stellige PIN eingeben.</a:t>
            </a:r>
            <a:endParaRPr lang="en-US" sz="1350" dirty="0"/>
          </a:p>
        </p:txBody>
      </p:sp>
      <p:sp>
        <p:nvSpPr>
          <p:cNvPr id="15" name="Shape 11"/>
          <p:cNvSpPr/>
          <p:nvPr/>
        </p:nvSpPr>
        <p:spPr>
          <a:xfrm>
            <a:off x="5486400" y="4242816"/>
            <a:ext cx="310896" cy="310896"/>
          </a:xfrm>
          <a:prstGeom prst="ellipse">
            <a:avLst/>
          </a:prstGeom>
          <a:solidFill>
            <a:srgbClr val="FF2D55"/>
          </a:solidFill>
          <a:ln w="12700">
            <a:solidFill>
              <a:srgbClr val="FF2D55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5486400" y="424281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3"/>
          <p:cNvSpPr txBox="1"/>
          <p:nvPr/>
        </p:nvSpPr>
        <p:spPr>
          <a:xfrm>
            <a:off x="5925312" y="4187952"/>
            <a:ext cx="5687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EEF2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Auf „Log in" klicken. Der Name und die Rolle erscheinen danach oben rechts.</a:t>
            </a:r>
            <a:endParaRPr lang="en-US" sz="1350" dirty="0"/>
          </a:p>
        </p:txBody>
      </p:sp>
      <p:sp>
        <p:nvSpPr>
          <p:cNvPr id="18" name="Shape 14"/>
          <p:cNvSpPr/>
          <p:nvPr/>
        </p:nvSpPr>
        <p:spPr>
          <a:xfrm>
            <a:off x="5486400" y="4846320"/>
            <a:ext cx="6144768" cy="1024128"/>
          </a:xfrm>
          <a:prstGeom prst="roundRect">
            <a:avLst>
              <a:gd name="adj" fmla="val 6250"/>
            </a:avLst>
          </a:prstGeom>
          <a:solidFill>
            <a:srgbClr val="16203A"/>
          </a:solidFill>
          <a:ln w="12700">
            <a:solidFill>
              <a:srgbClr val="2B3A5C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5715000" y="4846320"/>
            <a:ext cx="571500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A3D0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Viewer</a:t>
            </a:r>
            <a:pPr indent="0" marL="0">
              <a:buNone/>
            </a:pPr>
            <a:r>
              <a:rPr lang="en-US" sz="1250" dirty="0">
                <a:solidFill>
                  <a:srgbClr val="93A3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nur lesen   ·   </a:t>
            </a:r>
            <a:pPr indent="0" marL="0">
              <a:buNone/>
            </a:pPr>
            <a:r>
              <a:rPr lang="en-US" sz="1250" b="1" dirty="0">
                <a:solidFill>
                  <a:srgbClr val="A3D0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Editor</a:t>
            </a:r>
            <a:pPr indent="0" marL="0">
              <a:buNone/>
            </a:pPr>
            <a:r>
              <a:rPr lang="en-US" sz="1250" dirty="0">
                <a:solidFill>
                  <a:srgbClr val="93A3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zusätzlich importieren   ·   </a:t>
            </a:r>
            <a:pPr indent="0" marL="0">
              <a:buNone/>
            </a:pPr>
            <a:r>
              <a:rPr lang="en-US" sz="1250" b="1" dirty="0">
                <a:solidFill>
                  <a:srgbClr val="A3D0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</a:t>
            </a:r>
            <a:pPr indent="0" marL="0">
              <a:buNone/>
            </a:pPr>
            <a:r>
              <a:rPr lang="en-US" sz="1250" dirty="0">
                <a:solidFill>
                  <a:srgbClr val="93A3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zusätzlich Releases verwalten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10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47472"/>
            <a:ext cx="10515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20" kern="0" dirty="0">
                <a:solidFill>
                  <a:srgbClr val="A3D0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SCHRITT 2 · RELEASE ANLEGEN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03504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EF2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Release-Leiste links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91056"/>
            <a:ext cx="310896" cy="310896"/>
          </a:xfrm>
          <a:prstGeom prst="ellipse">
            <a:avLst/>
          </a:prstGeom>
          <a:solidFill>
            <a:srgbClr val="FF2D55"/>
          </a:solidFill>
          <a:ln w="12700">
            <a:solidFill>
              <a:srgbClr val="FF2D5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66928" y="15910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1536192"/>
            <a:ext cx="36758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EEF2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Alle Releases, das neueste immer oben. „CURRENT" markiert das laufende Release.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566928" y="2286000"/>
            <a:ext cx="310896" cy="310896"/>
          </a:xfrm>
          <a:prstGeom prst="ellipse">
            <a:avLst/>
          </a:prstGeom>
          <a:solidFill>
            <a:srgbClr val="FF2D55"/>
          </a:solidFill>
          <a:ln w="12700">
            <a:solidFill>
              <a:srgbClr val="FF2D55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66928" y="22860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005840" y="2231136"/>
            <a:ext cx="36758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EEF2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Über „Manage Releases" werden Releases angelegt, bearbeitet, dupliziert oder gelöscht.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4956048" y="1408176"/>
            <a:ext cx="6775704" cy="4352544"/>
          </a:xfrm>
          <a:prstGeom prst="roundRect">
            <a:avLst>
              <a:gd name="adj" fmla="val 1261"/>
            </a:avLst>
          </a:prstGeom>
          <a:solidFill>
            <a:srgbClr val="16203A"/>
          </a:solidFill>
          <a:ln w="12700">
            <a:solidFill>
              <a:srgbClr val="2B3A5C"/>
            </a:solidFill>
            <a:prstDash val="solid"/>
          </a:ln>
        </p:spPr>
      </p:sp>
      <p:pic>
        <p:nvPicPr>
          <p:cNvPr id="11" name="Image 0" descr="shots/s03-release-nav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0" y="1709026"/>
            <a:ext cx="6629400" cy="3750845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566928" y="6236208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93A3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 Klick auf eine Umgebung (IR1, QC1, IR3 …) springt direkt zu deren Kachel im Bericht.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10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47472"/>
            <a:ext cx="10515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20" kern="0" dirty="0">
                <a:solidFill>
                  <a:srgbClr val="A3D0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SCHRITT 2 · RELEASE ANLEGEN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03504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EF2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Release-Verwaltung öffnen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93776" y="1371600"/>
            <a:ext cx="11210544" cy="3346704"/>
          </a:xfrm>
          <a:prstGeom prst="roundRect">
            <a:avLst>
              <a:gd name="adj" fmla="val 1639"/>
            </a:avLst>
          </a:prstGeom>
          <a:solidFill>
            <a:srgbClr val="16203A"/>
          </a:solidFill>
          <a:ln w="12700">
            <a:solidFill>
              <a:srgbClr val="2B3A5C"/>
            </a:solidFill>
            <a:prstDash val="solid"/>
          </a:ln>
        </p:spPr>
      </p:sp>
      <p:pic>
        <p:nvPicPr>
          <p:cNvPr id="5" name="Image 0" descr="shots/s04-manage-releas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3672" y="1444752"/>
            <a:ext cx="10730753" cy="32004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910328"/>
            <a:ext cx="310896" cy="310896"/>
          </a:xfrm>
          <a:prstGeom prst="ellipse">
            <a:avLst/>
          </a:prstGeom>
          <a:solidFill>
            <a:srgbClr val="FF2D55"/>
          </a:solidFill>
          <a:ln w="12700">
            <a:solidFill>
              <a:srgbClr val="FF2D55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66928" y="49103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1005840" y="4855464"/>
            <a:ext cx="10625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EEF2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 „+ New release" ein leeres Release von Grund auf anlegen.</a:t>
            </a:r>
            <a:endParaRPr lang="en-US" sz="1350" dirty="0"/>
          </a:p>
        </p:txBody>
      </p:sp>
      <p:sp>
        <p:nvSpPr>
          <p:cNvPr id="9" name="Shape 6"/>
          <p:cNvSpPr/>
          <p:nvPr/>
        </p:nvSpPr>
        <p:spPr>
          <a:xfrm>
            <a:off x="566928" y="5330952"/>
            <a:ext cx="310896" cy="310896"/>
          </a:xfrm>
          <a:prstGeom prst="ellipse">
            <a:avLst/>
          </a:prstGeom>
          <a:solidFill>
            <a:srgbClr val="FF2D55"/>
          </a:solidFill>
          <a:ln w="12700">
            <a:solidFill>
              <a:srgbClr val="FF2D55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66928" y="533095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1005840" y="5276088"/>
            <a:ext cx="10625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EEF2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 „Duplicate" den Zeitplan eines bestehenden Releases in eine neue Version kopieren — schneller als alles neu einzutragen.</a:t>
            </a:r>
            <a:endParaRPr lang="en-US" sz="1350" dirty="0"/>
          </a:p>
        </p:txBody>
      </p:sp>
      <p:sp>
        <p:nvSpPr>
          <p:cNvPr id="12" name="Text 9"/>
          <p:cNvSpPr txBox="1"/>
          <p:nvPr/>
        </p:nvSpPr>
        <p:spPr>
          <a:xfrm>
            <a:off x="566928" y="6236208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93A3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Jedes Release behält seine eigenen Umgebungen, Termine und importierten Daten. Speichern schreibt nie in ein anderes Release.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10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47472"/>
            <a:ext cx="10515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20" kern="0" dirty="0">
                <a:solidFill>
                  <a:srgbClr val="A3D0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SCHRITT 2 · RELEASE ANLEGEN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03504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EF2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Neues Release — Kopfdaten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91056"/>
            <a:ext cx="310896" cy="310896"/>
          </a:xfrm>
          <a:prstGeom prst="ellipse">
            <a:avLst/>
          </a:prstGeom>
          <a:solidFill>
            <a:srgbClr val="FF2D55"/>
          </a:solidFill>
          <a:ln w="12700">
            <a:solidFill>
              <a:srgbClr val="FF2D5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66928" y="15910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1536192"/>
            <a:ext cx="36758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EEF2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Version, z. B. 26.03.00 — Pflichtfeld und muss eindeutig sein.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566928" y="2286000"/>
            <a:ext cx="310896" cy="310896"/>
          </a:xfrm>
          <a:prstGeom prst="ellipse">
            <a:avLst/>
          </a:prstGeom>
          <a:solidFill>
            <a:srgbClr val="FF2D55"/>
          </a:solidFill>
          <a:ln w="12700">
            <a:solidFill>
              <a:srgbClr val="FF2D55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66928" y="22860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005840" y="2231136"/>
            <a:ext cx="36758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EEF2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Status: Planned, In Progress, Completed oder Archived.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66928" y="2980944"/>
            <a:ext cx="310896" cy="310896"/>
          </a:xfrm>
          <a:prstGeom prst="ellipse">
            <a:avLst/>
          </a:prstGeom>
          <a:solidFill>
            <a:srgbClr val="FF2D55"/>
          </a:solidFill>
          <a:ln w="12700">
            <a:solidFill>
              <a:srgbClr val="FF2D55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66928" y="298094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005840" y="2926080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EEF2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Release-Beginn.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566928" y="3401568"/>
            <a:ext cx="310896" cy="310896"/>
          </a:xfrm>
          <a:prstGeom prst="ellipse">
            <a:avLst/>
          </a:prstGeom>
          <a:solidFill>
            <a:srgbClr val="FF2D55"/>
          </a:solidFill>
          <a:ln w="12700">
            <a:solidFill>
              <a:srgbClr val="FF2D55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66928" y="34015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1005840" y="3346704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EEF2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Release-Ende.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566928" y="3822192"/>
            <a:ext cx="310896" cy="310896"/>
          </a:xfrm>
          <a:prstGeom prst="ellipse">
            <a:avLst/>
          </a:prstGeom>
          <a:solidFill>
            <a:srgbClr val="FF2D55"/>
          </a:solidFill>
          <a:ln w="12700">
            <a:solidFill>
              <a:srgbClr val="FF2D55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66928" y="382219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1005840" y="3767328"/>
            <a:ext cx="36758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EEF2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„Set as the current release" — nur setzen, wenn dieses Release ab jetzt das laufende ist.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4956048" y="1408176"/>
            <a:ext cx="6775704" cy="4672584"/>
          </a:xfrm>
          <a:prstGeom prst="roundRect">
            <a:avLst>
              <a:gd name="adj" fmla="val 1174"/>
            </a:avLst>
          </a:prstGeom>
          <a:solidFill>
            <a:srgbClr val="16203A"/>
          </a:solidFill>
          <a:ln w="12700">
            <a:solidFill>
              <a:srgbClr val="2B3A5C"/>
            </a:solidFill>
            <a:prstDash val="solid"/>
          </a:ln>
        </p:spPr>
      </p:sp>
      <p:pic>
        <p:nvPicPr>
          <p:cNvPr id="20" name="Image 0" descr="shots/s05-form-head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40469" y="1481328"/>
            <a:ext cx="6606862" cy="4526280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566928" y="6236208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93A3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 Feld „Release Information" ist freiwillig — Umfang, Ziele oder Hinweise für das Team.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10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47472"/>
            <a:ext cx="10515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20" kern="0" dirty="0">
                <a:solidFill>
                  <a:srgbClr val="A3D0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SCHRITT 2 · RELEASE ANLEGEN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03504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EF2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Verantwortlichkeiten eintragen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93776" y="1481328"/>
            <a:ext cx="11210544" cy="2249424"/>
          </a:xfrm>
          <a:prstGeom prst="roundRect">
            <a:avLst>
              <a:gd name="adj" fmla="val 2439"/>
            </a:avLst>
          </a:prstGeom>
          <a:solidFill>
            <a:srgbClr val="16203A"/>
          </a:solidFill>
          <a:ln w="12700">
            <a:solidFill>
              <a:srgbClr val="2B3A5C"/>
            </a:solidFill>
            <a:prstDash val="solid"/>
          </a:ln>
        </p:spPr>
      </p:sp>
      <p:pic>
        <p:nvPicPr>
          <p:cNvPr id="5" name="Image 0" descr="shots/s06-form-responsibiliti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617576"/>
            <a:ext cx="11064240" cy="1976927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3995928"/>
            <a:ext cx="310896" cy="310896"/>
          </a:xfrm>
          <a:prstGeom prst="ellipse">
            <a:avLst/>
          </a:prstGeom>
          <a:solidFill>
            <a:srgbClr val="FF2D55"/>
          </a:solidFill>
          <a:ln w="12700">
            <a:solidFill>
              <a:srgbClr val="FF2D55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66928" y="39959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1005840" y="3941064"/>
            <a:ext cx="10625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EEF2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Rolle — über die Schaltflächen darunter: Release Management, Project Manager, Test Manager, Defect Manager oder eine eigene Rolle.</a:t>
            </a:r>
            <a:endParaRPr lang="en-US" sz="1350" dirty="0"/>
          </a:p>
        </p:txBody>
      </p:sp>
      <p:sp>
        <p:nvSpPr>
          <p:cNvPr id="9" name="Shape 6"/>
          <p:cNvSpPr/>
          <p:nvPr/>
        </p:nvSpPr>
        <p:spPr>
          <a:xfrm>
            <a:off x="566928" y="4416552"/>
            <a:ext cx="310896" cy="310896"/>
          </a:xfrm>
          <a:prstGeom prst="ellipse">
            <a:avLst/>
          </a:prstGeom>
          <a:solidFill>
            <a:srgbClr val="FF2D55"/>
          </a:solidFill>
          <a:ln w="12700">
            <a:solidFill>
              <a:srgbClr val="FF2D55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66928" y="441655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1005840" y="4361688"/>
            <a:ext cx="10625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EEF2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 oder Namen, durch Komma getrennt.</a:t>
            </a:r>
            <a:endParaRPr lang="en-US" sz="1350" dirty="0"/>
          </a:p>
        </p:txBody>
      </p:sp>
      <p:sp>
        <p:nvSpPr>
          <p:cNvPr id="12" name="Shape 9"/>
          <p:cNvSpPr/>
          <p:nvPr/>
        </p:nvSpPr>
        <p:spPr>
          <a:xfrm>
            <a:off x="566928" y="4837176"/>
            <a:ext cx="310896" cy="310896"/>
          </a:xfrm>
          <a:prstGeom prst="ellipse">
            <a:avLst/>
          </a:prstGeom>
          <a:solidFill>
            <a:srgbClr val="FF2D55"/>
          </a:solidFill>
          <a:ln w="12700">
            <a:solidFill>
              <a:srgbClr val="FF2D55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566928" y="483717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1005840" y="4782312"/>
            <a:ext cx="10625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EEF2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„+ Custom role" für jede Rolle, die in der Liste fehlt.</a:t>
            </a:r>
            <a:endParaRPr lang="en-US" sz="1350" dirty="0"/>
          </a:p>
        </p:txBody>
      </p:sp>
      <p:sp>
        <p:nvSpPr>
          <p:cNvPr id="15" name="Text 12"/>
          <p:cNvSpPr txBox="1"/>
          <p:nvPr/>
        </p:nvSpPr>
        <p:spPr>
          <a:xfrm>
            <a:off x="566928" y="6236208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93A3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Neue Releases starten bewusst leer. Beim Duplizieren werden die Verantwortlichkeiten mitkopiert.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10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47472"/>
            <a:ext cx="10515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20" kern="0" dirty="0">
                <a:solidFill>
                  <a:srgbClr val="A3D0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SCHRITT 2 · RELEASE ANLEGEN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03504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EF2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Testumgebungen und Zeitplan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087368" y="1344168"/>
            <a:ext cx="4718304" cy="4855464"/>
          </a:xfrm>
          <a:prstGeom prst="roundRect">
            <a:avLst>
              <a:gd name="adj" fmla="val 1163"/>
            </a:avLst>
          </a:prstGeom>
          <a:solidFill>
            <a:srgbClr val="16203A"/>
          </a:solidFill>
          <a:ln w="12700">
            <a:solidFill>
              <a:srgbClr val="2B3A5C"/>
            </a:solidFill>
            <a:prstDash val="solid"/>
          </a:ln>
        </p:spPr>
      </p:sp>
      <p:pic>
        <p:nvPicPr>
          <p:cNvPr id="5" name="Image 0" descr="shots/s07-form-schedu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60520" y="1651494"/>
            <a:ext cx="4572000" cy="4240813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618488"/>
            <a:ext cx="310896" cy="310896"/>
          </a:xfrm>
          <a:prstGeom prst="ellipse">
            <a:avLst/>
          </a:prstGeom>
          <a:solidFill>
            <a:srgbClr val="FF2D55"/>
          </a:solidFill>
          <a:ln w="12700">
            <a:solidFill>
              <a:srgbClr val="FF2D55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66928" y="16184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1005840" y="1563624"/>
            <a:ext cx="29900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EEF2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Nur die Umgebungen anhaken, die dieses Release wirklich nutzt.</a:t>
            </a:r>
            <a:endParaRPr lang="en-US" sz="1350" dirty="0"/>
          </a:p>
        </p:txBody>
      </p:sp>
      <p:sp>
        <p:nvSpPr>
          <p:cNvPr id="9" name="Shape 6"/>
          <p:cNvSpPr/>
          <p:nvPr/>
        </p:nvSpPr>
        <p:spPr>
          <a:xfrm>
            <a:off x="566928" y="2313432"/>
            <a:ext cx="310896" cy="310896"/>
          </a:xfrm>
          <a:prstGeom prst="ellipse">
            <a:avLst/>
          </a:prstGeom>
          <a:solidFill>
            <a:srgbClr val="FF2D55"/>
          </a:solidFill>
          <a:ln w="12700">
            <a:solidFill>
              <a:srgbClr val="FF2D55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66928" y="23134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1005840" y="2258568"/>
            <a:ext cx="29900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EEF2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Für jede gewählte Umgebung erscheint ein eigener Zeitplan-Block.</a:t>
            </a:r>
            <a:endParaRPr lang="en-US" sz="1350" dirty="0"/>
          </a:p>
        </p:txBody>
      </p:sp>
      <p:sp>
        <p:nvSpPr>
          <p:cNvPr id="12" name="Shape 9"/>
          <p:cNvSpPr/>
          <p:nvPr/>
        </p:nvSpPr>
        <p:spPr>
          <a:xfrm>
            <a:off x="566928" y="3008376"/>
            <a:ext cx="310896" cy="310896"/>
          </a:xfrm>
          <a:prstGeom prst="ellipse">
            <a:avLst/>
          </a:prstGeom>
          <a:solidFill>
            <a:srgbClr val="FF2D55"/>
          </a:solidFill>
          <a:ln w="12700">
            <a:solidFill>
              <a:srgbClr val="FF2D55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566928" y="300837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1005840" y="2953512"/>
            <a:ext cx="2990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EEF2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Testzeitraum: Start und Ende.</a:t>
            </a:r>
            <a:endParaRPr lang="en-US" sz="1350" dirty="0"/>
          </a:p>
        </p:txBody>
      </p:sp>
      <p:sp>
        <p:nvSpPr>
          <p:cNvPr id="15" name="Shape 12"/>
          <p:cNvSpPr/>
          <p:nvPr/>
        </p:nvSpPr>
        <p:spPr>
          <a:xfrm>
            <a:off x="566928" y="3429000"/>
            <a:ext cx="310896" cy="310896"/>
          </a:xfrm>
          <a:prstGeom prst="ellipse">
            <a:avLst/>
          </a:prstGeom>
          <a:solidFill>
            <a:srgbClr val="FF2D55"/>
          </a:solidFill>
          <a:ln w="12700">
            <a:solidFill>
              <a:srgbClr val="FF2D55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66928" y="34290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1005840" y="3374136"/>
            <a:ext cx="29900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EEF2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Bug-Fixing-Zeitraum, optional zusätzlich ein Retest-Zeitraum.</a:t>
            </a:r>
            <a:endParaRPr lang="en-US" sz="1350" dirty="0"/>
          </a:p>
        </p:txBody>
      </p:sp>
      <p:sp>
        <p:nvSpPr>
          <p:cNvPr id="18" name="Shape 15"/>
          <p:cNvSpPr/>
          <p:nvPr/>
        </p:nvSpPr>
        <p:spPr>
          <a:xfrm>
            <a:off x="9006840" y="1600200"/>
            <a:ext cx="2633472" cy="2880360"/>
          </a:xfrm>
          <a:prstGeom prst="roundRect">
            <a:avLst>
              <a:gd name="adj" fmla="val 2431"/>
            </a:avLst>
          </a:prstGeom>
          <a:solidFill>
            <a:srgbClr val="16203A"/>
          </a:solidFill>
          <a:ln w="12700">
            <a:solidFill>
              <a:srgbClr val="2B3A5C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9235440" y="178308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A3D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Gut zu wissen</a:t>
            </a:r>
            <a:endParaRPr lang="en-US" sz="1350" dirty="0"/>
          </a:p>
        </p:txBody>
      </p:sp>
      <p:sp>
        <p:nvSpPr>
          <p:cNvPr id="20" name="Text 17"/>
          <p:cNvSpPr txBox="1"/>
          <p:nvPr/>
        </p:nvSpPr>
        <p:spPr>
          <a:xfrm>
            <a:off x="9235440" y="2148840"/>
            <a:ext cx="224028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EEF2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Nicht jedes Release nutzt jede Umgebung.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EEF2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„Add another environment" legt eigene Umgebungen an, z. B. UAT.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EEF2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Aus diesen Terminen berechnet das Cockpit Status und Countdown automatisch.</a:t>
            </a:r>
            <a:endParaRPr lang="en-US" sz="1150" dirty="0"/>
          </a:p>
        </p:txBody>
      </p:sp>
      <p:sp>
        <p:nvSpPr>
          <p:cNvPr id="21" name="Text 18"/>
          <p:cNvSpPr txBox="1"/>
          <p:nvPr/>
        </p:nvSpPr>
        <p:spPr>
          <a:xfrm>
            <a:off x="566928" y="6236208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93A3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 Reihenfolge wird geprüft: ein Bug-Fixing-Ende vor seinem Beginn wird beim Speichern abgelehnt.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10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47472"/>
            <a:ext cx="10515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20" kern="0" dirty="0">
                <a:solidFill>
                  <a:srgbClr val="A3D0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SCHRITT 2 · RELEASE ANLEGEN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03504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EF2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Speichern — und das Release steht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93776" y="1618488"/>
            <a:ext cx="3895344" cy="2066544"/>
          </a:xfrm>
          <a:prstGeom prst="roundRect">
            <a:avLst>
              <a:gd name="adj" fmla="val 2655"/>
            </a:avLst>
          </a:prstGeom>
          <a:solidFill>
            <a:srgbClr val="16203A"/>
          </a:solidFill>
          <a:ln w="12700">
            <a:solidFill>
              <a:srgbClr val="2B3A5C"/>
            </a:solidFill>
            <a:prstDash val="solid"/>
          </a:ln>
        </p:spPr>
      </p:sp>
      <p:pic>
        <p:nvPicPr>
          <p:cNvPr id="5" name="Image 0" descr="shots/s08-create-releas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5373" y="1691640"/>
            <a:ext cx="3572150" cy="192024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773168" y="1481328"/>
            <a:ext cx="6931152" cy="3163824"/>
          </a:xfrm>
          <a:prstGeom prst="roundRect">
            <a:avLst>
              <a:gd name="adj" fmla="val 1734"/>
            </a:avLst>
          </a:prstGeom>
          <a:solidFill>
            <a:srgbClr val="16203A"/>
          </a:solidFill>
          <a:ln w="12700">
            <a:solidFill>
              <a:srgbClr val="2B3A5C"/>
            </a:solidFill>
            <a:prstDash val="solid"/>
          </a:ln>
        </p:spPr>
      </p:sp>
      <p:pic>
        <p:nvPicPr>
          <p:cNvPr id="7" name="Image 1" descr="shots/s09-release-li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6320" y="1615766"/>
            <a:ext cx="6784848" cy="289494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566928" y="3931920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EF2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„Create release" speichert. Danach erscheint das Release in der Liste und in der Leiste links.</a:t>
            </a:r>
            <a:endParaRPr lang="en-US" sz="1350" dirty="0"/>
          </a:p>
        </p:txBody>
      </p:sp>
      <p:sp>
        <p:nvSpPr>
          <p:cNvPr id="9" name="Shape 5"/>
          <p:cNvSpPr/>
          <p:nvPr/>
        </p:nvSpPr>
        <p:spPr>
          <a:xfrm>
            <a:off x="493776" y="4818888"/>
            <a:ext cx="11210544" cy="1289304"/>
          </a:xfrm>
          <a:prstGeom prst="roundRect">
            <a:avLst>
              <a:gd name="adj" fmla="val 4255"/>
            </a:avLst>
          </a:prstGeom>
          <a:solidFill>
            <a:srgbClr val="16203A"/>
          </a:solidFill>
          <a:ln w="12700">
            <a:solidFill>
              <a:srgbClr val="2B3A5C"/>
            </a:solidFill>
            <a:prstDash val="solid"/>
          </a:ln>
        </p:spPr>
      </p:sp>
      <p:pic>
        <p:nvPicPr>
          <p:cNvPr id="10" name="Image 2" descr="shots/s10-nav-switch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6912" y="4892040"/>
            <a:ext cx="5784273" cy="114300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566928" y="6199632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93A3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 Klick auf eine Version in der Leiste wechselt das Release. Der Kopfbereich zeigt immer, welches gerade geöffnet ist.</a:t>
            </a: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10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47472"/>
            <a:ext cx="10515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20" kern="0" dirty="0">
                <a:solidFill>
                  <a:srgbClr val="A3D0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SCHRITT 3 · IMPORT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03504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EF2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Datei 1 — der qTest-Export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93776" y="1408176"/>
            <a:ext cx="11210544" cy="1472184"/>
          </a:xfrm>
          <a:prstGeom prst="roundRect">
            <a:avLst>
              <a:gd name="adj" fmla="val 3727"/>
            </a:avLst>
          </a:prstGeom>
          <a:solidFill>
            <a:srgbClr val="16203A"/>
          </a:solidFill>
          <a:ln w="12700">
            <a:solidFill>
              <a:srgbClr val="2B3A5C"/>
            </a:solidFill>
            <a:prstDash val="solid"/>
          </a:ln>
        </p:spPr>
      </p:sp>
      <p:pic>
        <p:nvPicPr>
          <p:cNvPr id="5" name="Image 0" descr="shots/s11-import-xls-butt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58468" y="1481328"/>
            <a:ext cx="9281160" cy="132588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3081528"/>
            <a:ext cx="310896" cy="310896"/>
          </a:xfrm>
          <a:prstGeom prst="ellipse">
            <a:avLst/>
          </a:prstGeom>
          <a:solidFill>
            <a:srgbClr val="FF2D55"/>
          </a:solidFill>
          <a:ln w="12700">
            <a:solidFill>
              <a:srgbClr val="FF2D55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66928" y="30815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1005840" y="3026664"/>
            <a:ext cx="50474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EEF2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„Import XLS / CSV" im Kopfbereich — der qTest-Export desselben Releases, das hier angelegt wurde.</a:t>
            </a:r>
            <a:endParaRPr lang="en-US" sz="1350" dirty="0"/>
          </a:p>
        </p:txBody>
      </p:sp>
      <p:sp>
        <p:nvSpPr>
          <p:cNvPr id="9" name="Shape 6"/>
          <p:cNvSpPr/>
          <p:nvPr/>
        </p:nvSpPr>
        <p:spPr>
          <a:xfrm>
            <a:off x="566928" y="3794760"/>
            <a:ext cx="5486400" cy="2103120"/>
          </a:xfrm>
          <a:prstGeom prst="roundRect">
            <a:avLst>
              <a:gd name="adj" fmla="val 3043"/>
            </a:avLst>
          </a:prstGeom>
          <a:solidFill>
            <a:srgbClr val="16203A"/>
          </a:solidFill>
          <a:ln w="12700">
            <a:solidFill>
              <a:srgbClr val="2B3A5C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804672" y="395020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A3D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Welche Spalten die Datei braucht</a:t>
            </a:r>
            <a:endParaRPr lang="en-US" sz="1350" dirty="0"/>
          </a:p>
        </p:txBody>
      </p:sp>
      <p:sp>
        <p:nvSpPr>
          <p:cNvPr id="11" name="Text 8"/>
          <p:cNvSpPr txBox="1"/>
          <p:nvPr/>
        </p:nvSpPr>
        <p:spPr>
          <a:xfrm>
            <a:off x="804672" y="4315968"/>
            <a:ext cx="5029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EEF2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Directory · Status · Name · Executed By · Executed End</a:t>
            </a:r>
            <a:endParaRPr lang="en-US" sz="12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EEF2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 · Module · Requirement · Defect IDs</a:t>
            </a:r>
            <a:endParaRPr lang="en-US" sz="12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EEF2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Run ID · Test Case ID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309360" y="3017520"/>
            <a:ext cx="5321808" cy="2880360"/>
          </a:xfrm>
          <a:prstGeom prst="roundRect">
            <a:avLst>
              <a:gd name="adj" fmla="val 2222"/>
            </a:avLst>
          </a:prstGeom>
          <a:solidFill>
            <a:srgbClr val="1B2C1A"/>
          </a:solidFill>
          <a:ln w="12700">
            <a:solidFill>
              <a:srgbClr val="6E8F12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547104" y="320040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A3D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Umgebung wird aus dem Directory gelesen</a:t>
            </a:r>
            <a:endParaRPr lang="en-US" sz="1350" dirty="0"/>
          </a:p>
        </p:txBody>
      </p:sp>
      <p:sp>
        <p:nvSpPr>
          <p:cNvPr id="14" name="Text 11"/>
          <p:cNvSpPr txBox="1"/>
          <p:nvPr/>
        </p:nvSpPr>
        <p:spPr>
          <a:xfrm>
            <a:off x="6547104" y="3566160"/>
            <a:ext cx="48463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EEF2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 Directory-Pfad muss die Umgebung als eigenes Segment enthalten, z. B.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EEF2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GC SAP Upgrade / QC1 / Finance / Team Finance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EEF2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Daraus ergeben sich Umgebung, Testbereich und Team. Zeilen ohne erkennbare Umgebung werden übersprungen und gemeldet.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A10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47472"/>
            <a:ext cx="10515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20" kern="0" dirty="0">
                <a:solidFill>
                  <a:srgbClr val="A3D0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SCHRITT 3 · IMPORT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03504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EF2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Sofort nach dem Import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93776" y="1389888"/>
            <a:ext cx="11210544" cy="4489704"/>
          </a:xfrm>
          <a:prstGeom prst="roundRect">
            <a:avLst>
              <a:gd name="adj" fmla="val 1222"/>
            </a:avLst>
          </a:prstGeom>
          <a:solidFill>
            <a:srgbClr val="16203A"/>
          </a:solidFill>
          <a:ln w="12700">
            <a:solidFill>
              <a:srgbClr val="2B3A5C"/>
            </a:solidFill>
            <a:prstDash val="solid"/>
          </a:ln>
        </p:spPr>
      </p:sp>
      <p:pic>
        <p:nvPicPr>
          <p:cNvPr id="5" name="Image 0" descr="shots/s12-after-xls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624328" y="1463040"/>
            <a:ext cx="6949440" cy="43434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66928" y="5989320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93A3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Fortschritt je Umgebung, Gesamtstatus, Zeitstrahl und Countdown werden sofort berechnet — ohne weitere Eingaben.</a:t>
            </a:r>
            <a:endParaRPr lang="en-US" sz="11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A10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47472"/>
            <a:ext cx="10515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20" kern="0" dirty="0">
                <a:solidFill>
                  <a:srgbClr val="A3D0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SCHRITT 3 · IMPORT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03504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EF2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Datei 2 — die Fehler aus Jira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93776" y="1481328"/>
            <a:ext cx="4352544" cy="4169664"/>
          </a:xfrm>
          <a:prstGeom prst="roundRect">
            <a:avLst>
              <a:gd name="adj" fmla="val 1316"/>
            </a:avLst>
          </a:prstGeom>
          <a:solidFill>
            <a:srgbClr val="16203A"/>
          </a:solidFill>
          <a:ln w="12700">
            <a:solidFill>
              <a:srgbClr val="2B3A5C"/>
            </a:solidFill>
            <a:prstDash val="solid"/>
          </a:ln>
        </p:spPr>
      </p:sp>
      <p:pic>
        <p:nvPicPr>
          <p:cNvPr id="5" name="Image 0" descr="shots/s13-import-jira-butt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973653"/>
            <a:ext cx="4206240" cy="3185013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120640" y="1709928"/>
            <a:ext cx="310896" cy="310896"/>
          </a:xfrm>
          <a:prstGeom prst="ellipse">
            <a:avLst/>
          </a:prstGeom>
          <a:solidFill>
            <a:srgbClr val="FF2D55"/>
          </a:solidFill>
          <a:ln w="12700">
            <a:solidFill>
              <a:srgbClr val="FF2D55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120640" y="17099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5559552" y="1655064"/>
            <a:ext cx="6053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EEF2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„Import Jira CSV" im Block „Defect Overview" auf der rechten Seite.</a:t>
            </a:r>
            <a:endParaRPr lang="en-US" sz="1350" dirty="0"/>
          </a:p>
        </p:txBody>
      </p:sp>
      <p:sp>
        <p:nvSpPr>
          <p:cNvPr id="9" name="Shape 6"/>
          <p:cNvSpPr/>
          <p:nvPr/>
        </p:nvSpPr>
        <p:spPr>
          <a:xfrm>
            <a:off x="5120640" y="2377440"/>
            <a:ext cx="6510528" cy="1600200"/>
          </a:xfrm>
          <a:prstGeom prst="roundRect">
            <a:avLst>
              <a:gd name="adj" fmla="val 4000"/>
            </a:avLst>
          </a:prstGeom>
          <a:solidFill>
            <a:srgbClr val="16203A"/>
          </a:solidFill>
          <a:ln w="12700">
            <a:solidFill>
              <a:srgbClr val="2B3A5C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358384" y="2542032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A3D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Welche Spalten die Datei braucht</a:t>
            </a:r>
            <a:endParaRPr lang="en-US" sz="1350" dirty="0"/>
          </a:p>
        </p:txBody>
      </p:sp>
      <p:sp>
        <p:nvSpPr>
          <p:cNvPr id="11" name="Text 8"/>
          <p:cNvSpPr txBox="1"/>
          <p:nvPr/>
        </p:nvSpPr>
        <p:spPr>
          <a:xfrm>
            <a:off x="5358384" y="2907792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EEF2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 key · Summary · Status · Priority · Assignee · Reporter</a:t>
            </a:r>
            <a:endParaRPr lang="en-US" sz="12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EEF2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Created · Updated · Component/s · Environment · Fix Version/s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5120640" y="4114800"/>
            <a:ext cx="6510528" cy="1737360"/>
          </a:xfrm>
          <a:prstGeom prst="roundRect">
            <a:avLst>
              <a:gd name="adj" fmla="val 3684"/>
            </a:avLst>
          </a:prstGeom>
          <a:solidFill>
            <a:srgbClr val="1B2C1A"/>
          </a:solidFill>
          <a:ln w="12700">
            <a:solidFill>
              <a:srgbClr val="6E8F12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5358384" y="4279392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A3D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 ist ein Import für alle Fehler</a:t>
            </a:r>
            <a:endParaRPr lang="en-US" sz="1350" dirty="0"/>
          </a:p>
        </p:txBody>
      </p:sp>
      <p:sp>
        <p:nvSpPr>
          <p:cNvPr id="14" name="Text 11"/>
          <p:cNvSpPr txBox="1"/>
          <p:nvPr/>
        </p:nvSpPr>
        <p:spPr>
          <a:xfrm>
            <a:off x="5358384" y="4645152"/>
            <a:ext cx="6035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EEF2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Eine einzige Jira-CSV deckt das ganze Release ab. Als geschlossen zählen die Status „Closed" und „Ready for Transport".</a:t>
            </a:r>
            <a:endParaRPr lang="en-US" sz="12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A10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47472"/>
            <a:ext cx="10515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20" kern="0" dirty="0">
                <a:solidFill>
                  <a:srgbClr val="A3D0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SCHRITT 3 · IMPORT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03504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EF2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Fehler und Testläufe verknüpfen sich selbst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93776" y="1389888"/>
            <a:ext cx="8010144" cy="4535424"/>
          </a:xfrm>
          <a:prstGeom prst="roundRect">
            <a:avLst>
              <a:gd name="adj" fmla="val 1210"/>
            </a:avLst>
          </a:prstGeom>
          <a:solidFill>
            <a:srgbClr val="16203A"/>
          </a:solidFill>
          <a:ln w="12700">
            <a:solidFill>
              <a:srgbClr val="2B3A5C"/>
            </a:solidFill>
            <a:prstDash val="solid"/>
          </a:ln>
        </p:spPr>
      </p:sp>
      <p:pic>
        <p:nvPicPr>
          <p:cNvPr id="5" name="Image 0" descr="shots/s24-defect-expor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874994"/>
            <a:ext cx="7863840" cy="3565212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8686800" y="1463040"/>
            <a:ext cx="2944368" cy="2148840"/>
          </a:xfrm>
          <a:prstGeom prst="roundRect">
            <a:avLst>
              <a:gd name="adj" fmla="val 2979"/>
            </a:avLst>
          </a:prstGeom>
          <a:solidFill>
            <a:srgbClr val="1B2C1A"/>
          </a:solidFill>
          <a:ln w="12700">
            <a:solidFill>
              <a:srgbClr val="6E8F12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915400" y="1627632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A3D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Automatischer Abgleich</a:t>
            </a:r>
            <a:endParaRPr 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8915400" y="1993392"/>
            <a:ext cx="25146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EEF2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 Cockpit verbindet jeden Jira-Fehler mit seinem qTest-Testlauf — über die Spalte „Defect IDs", über die Test-Run-ID und über die Test-Case-ID. Die Leiste zeigt, wie viele Tickets verknüpft sind.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8686800" y="3794760"/>
            <a:ext cx="2944368" cy="2057400"/>
          </a:xfrm>
          <a:prstGeom prst="roundRect">
            <a:avLst>
              <a:gd name="adj" fmla="val 3111"/>
            </a:avLst>
          </a:prstGeom>
          <a:solidFill>
            <a:srgbClr val="16203A"/>
          </a:solidFill>
          <a:ln w="12700">
            <a:solidFill>
              <a:srgbClr val="2B3A5C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8915400" y="3959352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A3D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Filterleiste</a:t>
            </a:r>
            <a:endParaRPr lang="en-US" sz="1350" dirty="0"/>
          </a:p>
        </p:txBody>
      </p:sp>
      <p:sp>
        <p:nvSpPr>
          <p:cNvPr id="11" name="Text 8"/>
          <p:cNvSpPr txBox="1"/>
          <p:nvPr/>
        </p:nvSpPr>
        <p:spPr>
          <a:xfrm>
            <a:off x="8915400" y="4325112"/>
            <a:ext cx="2514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EEF2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Suche, Priorität, Status, Bereich, Erstelldatum, Retest und Verknüpfungsart. Jeder Export übernimmt genau die gesetzten Filter.</a:t>
            </a:r>
            <a:endParaRPr lang="en-US" sz="1150" dirty="0"/>
          </a:p>
        </p:txBody>
      </p:sp>
      <p:sp>
        <p:nvSpPr>
          <p:cNvPr id="12" name="Text 9"/>
          <p:cNvSpPr txBox="1"/>
          <p:nvPr/>
        </p:nvSpPr>
        <p:spPr>
          <a:xfrm>
            <a:off x="566928" y="6035040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93A3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Zu jedem Fehler steht der verknüpfte Testlauf mit Anzahl der Läufe und Datum — so ist sofort sichtbar, was noch fehlschlägt.</a:t>
            </a:r>
            <a:endParaRPr lang="en-US" sz="11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A10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47472"/>
            <a:ext cx="10515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20" kern="0" dirty="0">
                <a:solidFill>
                  <a:srgbClr val="A3D0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SCHRITT 4 · AUSWERTEN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03504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EF2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Fortschritt je Testumgebung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93776" y="1371600"/>
            <a:ext cx="11210544" cy="3392424"/>
          </a:xfrm>
          <a:prstGeom prst="roundRect">
            <a:avLst>
              <a:gd name="adj" fmla="val 1617"/>
            </a:avLst>
          </a:prstGeom>
          <a:solidFill>
            <a:srgbClr val="16203A"/>
          </a:solidFill>
          <a:ln w="12700">
            <a:solidFill>
              <a:srgbClr val="2B3A5C"/>
            </a:solidFill>
            <a:prstDash val="solid"/>
          </a:ln>
        </p:spPr>
      </p:sp>
      <p:pic>
        <p:nvPicPr>
          <p:cNvPr id="5" name="Image 0" descr="shots/s15-env-card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05285" y="1444752"/>
            <a:ext cx="6387526" cy="324612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910328"/>
            <a:ext cx="310896" cy="310896"/>
          </a:xfrm>
          <a:prstGeom prst="ellipse">
            <a:avLst/>
          </a:prstGeom>
          <a:solidFill>
            <a:srgbClr val="FF2D55"/>
          </a:solidFill>
          <a:ln w="12700">
            <a:solidFill>
              <a:srgbClr val="FF2D55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66928" y="49103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1005840" y="4855464"/>
            <a:ext cx="10625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EEF2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Links die Zahl der geplanten Testläufe dieser Umgebung.</a:t>
            </a:r>
            <a:endParaRPr lang="en-US" sz="1350" dirty="0"/>
          </a:p>
        </p:txBody>
      </p:sp>
      <p:sp>
        <p:nvSpPr>
          <p:cNvPr id="9" name="Shape 6"/>
          <p:cNvSpPr/>
          <p:nvPr/>
        </p:nvSpPr>
        <p:spPr>
          <a:xfrm>
            <a:off x="566928" y="5330952"/>
            <a:ext cx="310896" cy="310896"/>
          </a:xfrm>
          <a:prstGeom prst="ellipse">
            <a:avLst/>
          </a:prstGeom>
          <a:solidFill>
            <a:srgbClr val="FF2D55"/>
          </a:solidFill>
          <a:ln w="12700">
            <a:solidFill>
              <a:srgbClr val="FF2D55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66928" y="533095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1005840" y="5276088"/>
            <a:ext cx="106253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EEF2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 Balken teilt sie auf: bestanden, fehlgeschlagen, blockiert, nicht relevant, offen. Daneben Ausführungs- und Bestehensquote sowie Test- und Bug-Fixing-Zeitraum.</a:t>
            </a:r>
            <a:endParaRPr lang="en-US" sz="1350" dirty="0"/>
          </a:p>
        </p:txBody>
      </p:sp>
      <p:sp>
        <p:nvSpPr>
          <p:cNvPr id="12" name="Text 9"/>
          <p:cNvSpPr txBox="1"/>
          <p:nvPr/>
        </p:nvSpPr>
        <p:spPr>
          <a:xfrm>
            <a:off x="566928" y="6236208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93A3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 beiden kleinen Schaltflächen auf jeder Karte öffnen den Ausführungskalender und den Abdeckungsbaum.</a:t>
            </a:r>
            <a:endParaRPr lang="en-US" sz="11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A10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47472"/>
            <a:ext cx="10515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20" kern="0" dirty="0">
                <a:solidFill>
                  <a:srgbClr val="A3D0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SCHRITT 4 · AUSWERTEN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03504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EF2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Aufgeklappt: Fortschritt je Bereich und Team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93776" y="1389888"/>
            <a:ext cx="11210544" cy="4489704"/>
          </a:xfrm>
          <a:prstGeom prst="roundRect">
            <a:avLst>
              <a:gd name="adj" fmla="val 1222"/>
            </a:avLst>
          </a:prstGeom>
          <a:solidFill>
            <a:srgbClr val="16203A"/>
          </a:solidFill>
          <a:ln w="12700">
            <a:solidFill>
              <a:srgbClr val="2B3A5C"/>
            </a:solidFill>
            <a:prstDash val="solid"/>
          </a:ln>
        </p:spPr>
      </p:sp>
      <p:pic>
        <p:nvPicPr>
          <p:cNvPr id="5" name="Image 0" descr="shots/s17-env-testli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624328" y="1463040"/>
            <a:ext cx="6949440" cy="43434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66928" y="5989320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93A3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 Klick auf die Chip-Schaltfläche „4 TESTS" einer Umgebung klappt sie auf: je Testbereich die ausgeführten von den geplanten Läufen, bestanden/fehlgeschlagen/blockiert, Ausführungs- und Bestehensquote sowie das verantwortliche Team mit Ampelstatus.</a:t>
            </a:r>
            <a:endParaRPr lang="en-US" sz="11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A10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47472"/>
            <a:ext cx="10515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20" kern="0" dirty="0">
                <a:solidFill>
                  <a:srgbClr val="A3D0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SCHRITT 4 · AUSWERTEN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03504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EF2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Testläufe pro Tag — der Ausführungskalender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767328" y="1371600"/>
            <a:ext cx="5266944" cy="4581144"/>
          </a:xfrm>
          <a:prstGeom prst="roundRect">
            <a:avLst>
              <a:gd name="adj" fmla="val 1198"/>
            </a:avLst>
          </a:prstGeom>
          <a:solidFill>
            <a:srgbClr val="16203A"/>
          </a:solidFill>
          <a:ln w="12700">
            <a:solidFill>
              <a:srgbClr val="2B3A5C"/>
            </a:solidFill>
            <a:prstDash val="solid"/>
          </a:ln>
        </p:spPr>
      </p:sp>
      <p:pic>
        <p:nvPicPr>
          <p:cNvPr id="5" name="Image 0" descr="shots/s16-exec-calend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840480" y="1544828"/>
            <a:ext cx="5120640" cy="423468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645920"/>
            <a:ext cx="310896" cy="310896"/>
          </a:xfrm>
          <a:prstGeom prst="ellipse">
            <a:avLst/>
          </a:prstGeom>
          <a:solidFill>
            <a:srgbClr val="FF2D55"/>
          </a:solidFill>
          <a:ln w="12700">
            <a:solidFill>
              <a:srgbClr val="FF2D55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66928" y="16459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1005840" y="1591056"/>
            <a:ext cx="267004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EEF2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 nach Anwendung und nach Team — die Zahlen im Kalender folgen der Auswahl.</a:t>
            </a:r>
            <a:endParaRPr lang="en-US" sz="1350" dirty="0"/>
          </a:p>
        </p:txBody>
      </p:sp>
      <p:sp>
        <p:nvSpPr>
          <p:cNvPr id="9" name="Shape 6"/>
          <p:cNvSpPr/>
          <p:nvPr/>
        </p:nvSpPr>
        <p:spPr>
          <a:xfrm>
            <a:off x="566928" y="2615184"/>
            <a:ext cx="310896" cy="310896"/>
          </a:xfrm>
          <a:prstGeom prst="ellipse">
            <a:avLst/>
          </a:prstGeom>
          <a:solidFill>
            <a:srgbClr val="FF2D55"/>
          </a:solidFill>
          <a:ln w="12700">
            <a:solidFill>
              <a:srgbClr val="FF2D55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66928" y="261518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1005840" y="2560320"/>
            <a:ext cx="267004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EEF2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Vorschlag, wie viele Tests pro Arbeitstag nötig sind, um rechtzeitig fertig zu werden.</a:t>
            </a:r>
            <a:endParaRPr lang="en-US" sz="1350" dirty="0"/>
          </a:p>
        </p:txBody>
      </p:sp>
      <p:sp>
        <p:nvSpPr>
          <p:cNvPr id="12" name="Shape 9"/>
          <p:cNvSpPr/>
          <p:nvPr/>
        </p:nvSpPr>
        <p:spPr>
          <a:xfrm>
            <a:off x="9235440" y="1627632"/>
            <a:ext cx="2395728" cy="2834640"/>
          </a:xfrm>
          <a:prstGeom prst="roundRect">
            <a:avLst>
              <a:gd name="adj" fmla="val 2672"/>
            </a:avLst>
          </a:prstGeom>
          <a:solidFill>
            <a:srgbClr val="16203A"/>
          </a:solidFill>
          <a:ln w="12700">
            <a:solidFill>
              <a:srgbClr val="2B3A5C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9454896" y="1792224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3D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der Kalender zeigt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9454896" y="2157984"/>
            <a:ext cx="20116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EEF2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Ausgeführte Testläufe je Tag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EEF2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Geplant, ausgeführt, offen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EEF2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Verbleibende Arbeitstage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EEF2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Ein Klick auf einen Tag zeigt, welche Tests an dem Tag gelaufen sind</a:t>
            </a:r>
            <a:endParaRPr lang="en-US" sz="1150" dirty="0"/>
          </a:p>
        </p:txBody>
      </p:sp>
      <p:sp>
        <p:nvSpPr>
          <p:cNvPr id="15" name="Text 12"/>
          <p:cNvSpPr txBox="1"/>
          <p:nvPr/>
        </p:nvSpPr>
        <p:spPr>
          <a:xfrm>
            <a:off x="566928" y="6035040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93A3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Gerechnet wird ausschließlich in Arbeitstagen — Montag bis Freitag, 07:00 bis 17:00 Uhr.</a:t>
            </a:r>
            <a:endParaRPr lang="en-US" sz="11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A10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47472"/>
            <a:ext cx="10515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20" kern="0" dirty="0">
                <a:solidFill>
                  <a:srgbClr val="A3D0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SCHRITT 4 · AUSWERTEN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03504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EF2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Anforderungsabdeckung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93776" y="1371600"/>
            <a:ext cx="11210544" cy="3392424"/>
          </a:xfrm>
          <a:prstGeom prst="roundRect">
            <a:avLst>
              <a:gd name="adj" fmla="val 1617"/>
            </a:avLst>
          </a:prstGeom>
          <a:solidFill>
            <a:srgbClr val="16203A"/>
          </a:solidFill>
          <a:ln w="12700">
            <a:solidFill>
              <a:srgbClr val="2B3A5C"/>
            </a:solidFill>
            <a:prstDash val="solid"/>
          </a:ln>
        </p:spPr>
      </p:sp>
      <p:pic>
        <p:nvPicPr>
          <p:cNvPr id="5" name="Image 0" descr="shots/s18-requirement-covera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6292" y="1444752"/>
            <a:ext cx="10125512" cy="324612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910328"/>
            <a:ext cx="310896" cy="310896"/>
          </a:xfrm>
          <a:prstGeom prst="ellipse">
            <a:avLst/>
          </a:prstGeom>
          <a:solidFill>
            <a:srgbClr val="FF2D55"/>
          </a:solidFill>
          <a:ln w="12700">
            <a:solidFill>
              <a:srgbClr val="FF2D55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66928" y="49103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1005840" y="4855464"/>
            <a:ext cx="10625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EEF2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Wie viele Anforderungen durch Tests abgedeckt sind, wie viele davon fehlerfrei bestanden und wie viele noch fehlschlagen oder blockiert sind.</a:t>
            </a:r>
            <a:endParaRPr lang="en-US" sz="1350" dirty="0"/>
          </a:p>
        </p:txBody>
      </p:sp>
      <p:sp>
        <p:nvSpPr>
          <p:cNvPr id="9" name="Shape 6"/>
          <p:cNvSpPr/>
          <p:nvPr/>
        </p:nvSpPr>
        <p:spPr>
          <a:xfrm>
            <a:off x="566928" y="5330952"/>
            <a:ext cx="310896" cy="310896"/>
          </a:xfrm>
          <a:prstGeom prst="ellipse">
            <a:avLst/>
          </a:prstGeom>
          <a:solidFill>
            <a:srgbClr val="FF2D55"/>
          </a:solidFill>
          <a:ln w="12700">
            <a:solidFill>
              <a:srgbClr val="FF2D55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66928" y="533095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1005840" y="5276088"/>
            <a:ext cx="10625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EEF2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Darunter die abgedeckten Anforderungen je Testumgebung.</a:t>
            </a:r>
            <a:endParaRPr lang="en-US" sz="1350" dirty="0"/>
          </a:p>
        </p:txBody>
      </p:sp>
      <p:sp>
        <p:nvSpPr>
          <p:cNvPr id="12" name="Text 9"/>
          <p:cNvSpPr txBox="1"/>
          <p:nvPr/>
        </p:nvSpPr>
        <p:spPr>
          <a:xfrm>
            <a:off x="566928" y="6236208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93A3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Grundlage ist die Spalte „Requirement" im qTest-Export. Ohne diese Spalte bleibt der Block leer.</a:t>
            </a:r>
            <a:endParaRPr lang="en-US" sz="11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A10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47472"/>
            <a:ext cx="10515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20" kern="0" dirty="0">
                <a:solidFill>
                  <a:srgbClr val="A3D0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SCHRITT 4 · AUSWERTEN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03504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EF2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Countdown und Fehlerübersicht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93776" y="1527048"/>
            <a:ext cx="5266944" cy="2432304"/>
          </a:xfrm>
          <a:prstGeom prst="roundRect">
            <a:avLst>
              <a:gd name="adj" fmla="val 2256"/>
            </a:avLst>
          </a:prstGeom>
          <a:solidFill>
            <a:srgbClr val="16203A"/>
          </a:solidFill>
          <a:ln w="12700">
            <a:solidFill>
              <a:srgbClr val="2B3A5C"/>
            </a:solidFill>
            <a:prstDash val="solid"/>
          </a:ln>
        </p:spPr>
      </p:sp>
      <p:pic>
        <p:nvPicPr>
          <p:cNvPr id="5" name="Image 0" descr="shots/s19-countdow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2414" y="1600200"/>
            <a:ext cx="4749668" cy="22860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66928" y="4069080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3D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Countdown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566928" y="4434840"/>
            <a:ext cx="51206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EEF2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Zeigt die verbleibende Zeit bis zum nächsten Termin der laufenden Umgebung — gerechnet nur in Arbeitszeit, Mo–Fr 07:00–17:00 Uhr. Die Arbeitszeit ist unter „Layout" einstellbar.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6099048" y="1527048"/>
            <a:ext cx="2798064" cy="4306824"/>
          </a:xfrm>
          <a:prstGeom prst="roundRect">
            <a:avLst>
              <a:gd name="adj" fmla="val 1961"/>
            </a:avLst>
          </a:prstGeom>
          <a:solidFill>
            <a:srgbClr val="16203A"/>
          </a:solidFill>
          <a:ln w="12700">
            <a:solidFill>
              <a:srgbClr val="2B3A5C"/>
            </a:solidFill>
            <a:prstDash val="solid"/>
          </a:ln>
        </p:spPr>
      </p:sp>
      <p:pic>
        <p:nvPicPr>
          <p:cNvPr id="9" name="Image 1" descr="shots/s20-defect-overvie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1775536"/>
            <a:ext cx="2651760" cy="3809849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9144000" y="1691640"/>
            <a:ext cx="2514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3D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Fehlerübersicht</a:t>
            </a:r>
            <a:endParaRPr lang="en-US" sz="1500" dirty="0"/>
          </a:p>
        </p:txBody>
      </p:sp>
      <p:sp>
        <p:nvSpPr>
          <p:cNvPr id="11" name="Text 7"/>
          <p:cNvSpPr txBox="1"/>
          <p:nvPr/>
        </p:nvSpPr>
        <p:spPr>
          <a:xfrm>
            <a:off x="9144000" y="2103120"/>
            <a:ext cx="2487168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EEF2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Gesamt, offen, geschlossen &amp; Ready for Transport sowie die Verteilung nach Priorität.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EEF2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Jede Kachel ist anklickbar und öffnet den gefilterten Arbeitsbereich.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EEF2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Darunter der Fehlerverlauf: erstellt gegen gelöst, je Tag.</a:t>
            </a:r>
            <a:endParaRPr lang="en-US" sz="12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A10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47472"/>
            <a:ext cx="10515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20" kern="0" dirty="0">
                <a:solidFill>
                  <a:srgbClr val="A3D0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SCHRITT 4 · AUSWERTEN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03504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EF2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Defect Manager Dashboard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93776" y="1389888"/>
            <a:ext cx="11210544" cy="4489704"/>
          </a:xfrm>
          <a:prstGeom prst="roundRect">
            <a:avLst>
              <a:gd name="adj" fmla="val 1222"/>
            </a:avLst>
          </a:prstGeom>
          <a:solidFill>
            <a:srgbClr val="16203A"/>
          </a:solidFill>
          <a:ln w="12700">
            <a:solidFill>
              <a:srgbClr val="2B3A5C"/>
            </a:solidFill>
            <a:prstDash val="solid"/>
          </a:ln>
        </p:spPr>
      </p:sp>
      <p:pic>
        <p:nvPicPr>
          <p:cNvPr id="5" name="Image 0" descr="shots/s21-defect-dashboa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624328" y="1463040"/>
            <a:ext cx="6949440" cy="43434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66928" y="5989320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93A3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Über „Defect Manager Dashboard →" erreichbar: aktueller Fehlerstand des gewählten Releases und der vereinbarte Prozess — wie ein Fehler angelegt wird, welche Angaben er braucht und welche Rolle ihn wann übernimmt.</a:t>
            </a:r>
            <a:endParaRPr lang="en-US" sz="11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A10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47472"/>
            <a:ext cx="10515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20" kern="0" dirty="0">
                <a:solidFill>
                  <a:srgbClr val="A3D0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SCHRITT 5 · EXPORTIEREN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03504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EF2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Bericht herausgeben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93776" y="1408176"/>
            <a:ext cx="11210544" cy="1472184"/>
          </a:xfrm>
          <a:prstGeom prst="roundRect">
            <a:avLst>
              <a:gd name="adj" fmla="val 3727"/>
            </a:avLst>
          </a:prstGeom>
          <a:solidFill>
            <a:srgbClr val="16203A"/>
          </a:solidFill>
          <a:ln w="12700">
            <a:solidFill>
              <a:srgbClr val="2B3A5C"/>
            </a:solidFill>
            <a:prstDash val="solid"/>
          </a:ln>
        </p:spPr>
      </p:sp>
      <p:pic>
        <p:nvPicPr>
          <p:cNvPr id="5" name="Image 0" descr="shots/s22-export-button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90497" y="1481328"/>
            <a:ext cx="8817102" cy="132588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3081528"/>
            <a:ext cx="310896" cy="310896"/>
          </a:xfrm>
          <a:prstGeom prst="ellipse">
            <a:avLst/>
          </a:prstGeom>
          <a:solidFill>
            <a:srgbClr val="FF2D55"/>
          </a:solidFill>
          <a:ln w="12700">
            <a:solidFill>
              <a:srgbClr val="FF2D55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66928" y="30815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1005840" y="3026664"/>
            <a:ext cx="10625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EEF2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„PDF · Environments" — Status je Testumgebung, Zeitverbrauch, alle Fehler und die seit dem letzten Bericht neu hinzugekommenen.</a:t>
            </a:r>
            <a:endParaRPr lang="en-US" sz="1350" dirty="0"/>
          </a:p>
        </p:txBody>
      </p:sp>
      <p:sp>
        <p:nvSpPr>
          <p:cNvPr id="9" name="Shape 6"/>
          <p:cNvSpPr/>
          <p:nvPr/>
        </p:nvSpPr>
        <p:spPr>
          <a:xfrm>
            <a:off x="566928" y="3502152"/>
            <a:ext cx="310896" cy="310896"/>
          </a:xfrm>
          <a:prstGeom prst="ellipse">
            <a:avLst/>
          </a:prstGeom>
          <a:solidFill>
            <a:srgbClr val="FF2D55"/>
          </a:solidFill>
          <a:ln w="12700">
            <a:solidFill>
              <a:srgbClr val="FF2D55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66928" y="350215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1005840" y="3447288"/>
            <a:ext cx="10625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EEF2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„Overall" — Gesamtstatus des Projekts, Zeitverbrauch und alle Fehler.</a:t>
            </a:r>
            <a:endParaRPr lang="en-US" sz="1350" dirty="0"/>
          </a:p>
        </p:txBody>
      </p:sp>
      <p:sp>
        <p:nvSpPr>
          <p:cNvPr id="12" name="Shape 9"/>
          <p:cNvSpPr/>
          <p:nvPr/>
        </p:nvSpPr>
        <p:spPr>
          <a:xfrm>
            <a:off x="566928" y="3922776"/>
            <a:ext cx="310896" cy="310896"/>
          </a:xfrm>
          <a:prstGeom prst="ellipse">
            <a:avLst/>
          </a:prstGeom>
          <a:solidFill>
            <a:srgbClr val="FF2D55"/>
          </a:solidFill>
          <a:ln w="12700">
            <a:solidFill>
              <a:srgbClr val="FF2D55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566928" y="392277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1005840" y="3867912"/>
            <a:ext cx="10625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EEF2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„Go / No-Go" — Entscheidungsvorlage für die Phasenübergabe, je Testumgebung.</a:t>
            </a:r>
            <a:endParaRPr lang="en-US" sz="1350" dirty="0"/>
          </a:p>
        </p:txBody>
      </p:sp>
      <p:sp>
        <p:nvSpPr>
          <p:cNvPr id="15" name="Shape 12"/>
          <p:cNvSpPr/>
          <p:nvPr/>
        </p:nvSpPr>
        <p:spPr>
          <a:xfrm>
            <a:off x="566928" y="4892040"/>
            <a:ext cx="11064240" cy="868680"/>
          </a:xfrm>
          <a:prstGeom prst="roundRect">
            <a:avLst>
              <a:gd name="adj" fmla="val 7368"/>
            </a:avLst>
          </a:prstGeom>
          <a:solidFill>
            <a:srgbClr val="16203A"/>
          </a:solidFill>
          <a:ln w="12700">
            <a:solidFill>
              <a:srgbClr val="2B3A5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22960" y="4892040"/>
            <a:ext cx="10515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EF2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Fehler lassen sich zusätzlich direkt als Excel, PowerPoint oder CSV ausgeben — im Arbeitsbereich „Defect Management Workspace", jeweils mit den gesetzten Filtern.</a:t>
            </a:r>
            <a:endParaRPr lang="en-US" sz="13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A10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47472"/>
            <a:ext cx="10515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20" kern="0" dirty="0">
                <a:solidFill>
                  <a:srgbClr val="A3D0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SCHRITT 5 · EXPORTIEREN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03504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EF2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 / No-Go — je Testumgebung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93776" y="1389888"/>
            <a:ext cx="7918704" cy="4535424"/>
          </a:xfrm>
          <a:prstGeom prst="roundRect">
            <a:avLst>
              <a:gd name="adj" fmla="val 1210"/>
            </a:avLst>
          </a:prstGeom>
          <a:solidFill>
            <a:srgbClr val="16203A"/>
          </a:solidFill>
          <a:ln w="12700">
            <a:solidFill>
              <a:srgbClr val="2B3A5C"/>
            </a:solidFill>
            <a:prstDash val="solid"/>
          </a:ln>
        </p:spPr>
      </p:sp>
      <p:pic>
        <p:nvPicPr>
          <p:cNvPr id="5" name="Image 0" descr="shots/s23-gon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68192"/>
            <a:ext cx="7772400" cy="4378817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8595360" y="1664208"/>
            <a:ext cx="310896" cy="310896"/>
          </a:xfrm>
          <a:prstGeom prst="ellipse">
            <a:avLst/>
          </a:prstGeom>
          <a:solidFill>
            <a:srgbClr val="FF2D55"/>
          </a:solidFill>
          <a:ln w="12700">
            <a:solidFill>
              <a:srgbClr val="FF2D55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595360" y="16642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9034272" y="1609344"/>
            <a:ext cx="26243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EEF2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„Export as PowerPoint" erzeugt die fertige Entscheidungsvorlage.</a:t>
            </a:r>
            <a:endParaRPr lang="en-US" sz="1350" dirty="0"/>
          </a:p>
        </p:txBody>
      </p:sp>
      <p:sp>
        <p:nvSpPr>
          <p:cNvPr id="9" name="Text 6"/>
          <p:cNvSpPr txBox="1"/>
          <p:nvPr/>
        </p:nvSpPr>
        <p:spPr>
          <a:xfrm>
            <a:off x="8595360" y="2487168"/>
            <a:ext cx="303580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EF2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 Umschalter links daneben wählt die Testumgebung — für jede gewählte Umgebung wird eine eigene Vorlage erzeugt.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8595360" y="3520440"/>
            <a:ext cx="3035808" cy="2331720"/>
          </a:xfrm>
          <a:prstGeom prst="roundRect">
            <a:avLst>
              <a:gd name="adj" fmla="val 2745"/>
            </a:avLst>
          </a:prstGeom>
          <a:solidFill>
            <a:srgbClr val="1B2C1A"/>
          </a:solidFill>
          <a:ln w="12700">
            <a:solidFill>
              <a:srgbClr val="6E8F12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823960" y="3685032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3D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Woraus die Empfehlung entsteht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8823960" y="4050792"/>
            <a:ext cx="26060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EEF2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Ausführungsgrad, Bestehensquote, fehlgeschlagene und blockierte Läufe sowie offene gate-relevante Fehler — gemessen an den vereinbarten Exit-Kriterien der Phase.</a:t>
            </a:r>
            <a:endParaRPr lang="en-US" sz="1150" dirty="0"/>
          </a:p>
        </p:txBody>
      </p:sp>
      <p:sp>
        <p:nvSpPr>
          <p:cNvPr id="13" name="Text 10"/>
          <p:cNvSpPr txBox="1"/>
          <p:nvPr/>
        </p:nvSpPr>
        <p:spPr>
          <a:xfrm>
            <a:off x="566928" y="6035040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93A3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 Vorlage wird bei jedem Aufruf aus den aktuell importierten Daten neu erzeugt — sie ist nie veraltet.</a:t>
            </a:r>
            <a:endParaRPr lang="en-US" sz="11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A10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47472"/>
            <a:ext cx="10515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20" kern="0" dirty="0">
                <a:solidFill>
                  <a:srgbClr val="A3D0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ZUM SCHLUSS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03504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EF2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Fünf Dinge, die man wissen sollte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627632"/>
            <a:ext cx="11064240" cy="749808"/>
          </a:xfrm>
          <a:prstGeom prst="roundRect">
            <a:avLst>
              <a:gd name="adj" fmla="val 7317"/>
            </a:avLst>
          </a:prstGeom>
          <a:solidFill>
            <a:srgbClr val="16203A"/>
          </a:solidFill>
          <a:ln w="12700">
            <a:solidFill>
              <a:srgbClr val="2B3A5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801368"/>
            <a:ext cx="402336" cy="402336"/>
          </a:xfrm>
          <a:prstGeom prst="ellipse">
            <a:avLst/>
          </a:prstGeom>
          <a:solidFill>
            <a:srgbClr val="A3D024"/>
          </a:solidFill>
          <a:ln w="12700">
            <a:solidFill>
              <a:srgbClr val="A3D02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180136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A10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389888" y="1682496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EF2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Release zuerst prüfen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4389120" y="1682496"/>
            <a:ext cx="7086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3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Alle Zahlen gelten für das Release und die Umgebung, die oben im Kopfbereich stehen.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66928" y="2487168"/>
            <a:ext cx="11064240" cy="749808"/>
          </a:xfrm>
          <a:prstGeom prst="roundRect">
            <a:avLst>
              <a:gd name="adj" fmla="val 7317"/>
            </a:avLst>
          </a:prstGeom>
          <a:solidFill>
            <a:srgbClr val="16203A"/>
          </a:solidFill>
          <a:ln w="12700">
            <a:solidFill>
              <a:srgbClr val="2B3A5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2960" y="2660904"/>
            <a:ext cx="402336" cy="402336"/>
          </a:xfrm>
          <a:prstGeom prst="ellipse">
            <a:avLst/>
          </a:prstGeom>
          <a:solidFill>
            <a:srgbClr val="A3D024"/>
          </a:solidFill>
          <a:ln w="12700">
            <a:solidFill>
              <a:srgbClr val="A3D02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22960" y="266090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A10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389888" y="2542032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EF2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Zwei Dateien genügen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4389120" y="2542032"/>
            <a:ext cx="7086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3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qTest-Export für die Testläufe, Jira-CSV für die Fehler. Die Verknüpfung passiert von selbst.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66928" y="3346704"/>
            <a:ext cx="11064240" cy="749808"/>
          </a:xfrm>
          <a:prstGeom prst="roundRect">
            <a:avLst>
              <a:gd name="adj" fmla="val 7317"/>
            </a:avLst>
          </a:prstGeom>
          <a:solidFill>
            <a:srgbClr val="16203A"/>
          </a:solidFill>
          <a:ln w="12700">
            <a:solidFill>
              <a:srgbClr val="2B3A5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22960" y="3520440"/>
            <a:ext cx="402336" cy="402336"/>
          </a:xfrm>
          <a:prstGeom prst="ellipse">
            <a:avLst/>
          </a:prstGeom>
          <a:solidFill>
            <a:srgbClr val="A3D024"/>
          </a:solidFill>
          <a:ln w="12700">
            <a:solidFill>
              <a:srgbClr val="A3D02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22960" y="35204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A10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389888" y="3401568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EF2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Strikte Trennung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4389120" y="3401568"/>
            <a:ext cx="7086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3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 Import schreibt nur in das geöffnete Release. Andere Releases bleiben unberührt.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66928" y="4206240"/>
            <a:ext cx="11064240" cy="749808"/>
          </a:xfrm>
          <a:prstGeom prst="roundRect">
            <a:avLst>
              <a:gd name="adj" fmla="val 7317"/>
            </a:avLst>
          </a:prstGeom>
          <a:solidFill>
            <a:srgbClr val="16203A"/>
          </a:solidFill>
          <a:ln w="12700">
            <a:solidFill>
              <a:srgbClr val="2B3A5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22960" y="4379976"/>
            <a:ext cx="402336" cy="402336"/>
          </a:xfrm>
          <a:prstGeom prst="ellipse">
            <a:avLst/>
          </a:prstGeom>
          <a:solidFill>
            <a:srgbClr val="A3D024"/>
          </a:solidFill>
          <a:ln w="12700">
            <a:solidFill>
              <a:srgbClr val="A3D024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22960" y="437997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A10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1389888" y="4261104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EF2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Nur Arbeitszeit zählt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4389120" y="4261104"/>
            <a:ext cx="7086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3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Countdown und Tagesvorgaben rechnen Mo–Fr, 07:00–17:00 Uhr.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566928" y="5065776"/>
            <a:ext cx="11064240" cy="749808"/>
          </a:xfrm>
          <a:prstGeom prst="roundRect">
            <a:avLst>
              <a:gd name="adj" fmla="val 7317"/>
            </a:avLst>
          </a:prstGeom>
          <a:solidFill>
            <a:srgbClr val="16203A"/>
          </a:solidFill>
          <a:ln w="12700">
            <a:solidFill>
              <a:srgbClr val="2B3A5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22960" y="5239512"/>
            <a:ext cx="402336" cy="402336"/>
          </a:xfrm>
          <a:prstGeom prst="ellipse">
            <a:avLst/>
          </a:prstGeom>
          <a:solidFill>
            <a:srgbClr val="A3D024"/>
          </a:solidFill>
          <a:ln w="12700">
            <a:solidFill>
              <a:srgbClr val="A3D024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22960" y="523951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A10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1389888" y="512064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EF2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Alles bleibt lokal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4389120" y="5120640"/>
            <a:ext cx="7086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3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Eine einzige HTML-Datei, offline lauffähig. Die Daten liegen im Browser, nichts wird hochgeladen.</a:t>
            </a:r>
            <a:endParaRPr lang="en-US" sz="1250" dirty="0"/>
          </a:p>
        </p:txBody>
      </p:sp>
      <p:sp>
        <p:nvSpPr>
          <p:cNvPr id="29" name="Text 27"/>
          <p:cNvSpPr txBox="1"/>
          <p:nvPr/>
        </p:nvSpPr>
        <p:spPr>
          <a:xfrm>
            <a:off x="566928" y="60533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3A3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Fragen und Änderungswünsche an den Test Manager.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QA Test Management Cockpit — Kurzanleitung</dc:title>
  <dc:subject>PptxGenJS Presentation</dc:subject>
  <dc:creator>QA Test Management</dc:creator>
  <cp:lastModifiedBy>QA Test Management</cp:lastModifiedBy>
  <cp:revision>1</cp:revision>
  <dcterms:created xsi:type="dcterms:W3CDTF">2026-09-18T19:16:51Z</dcterms:created>
  <dcterms:modified xsi:type="dcterms:W3CDTF">2026-09-18T19:16:51Z</dcterms:modified>
</cp:coreProperties>
</file>